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1" r:id="rId11"/>
    <p:sldId id="262" r:id="rId12"/>
    <p:sldId id="259" r:id="rId9"/>
    <p:sldId id="260" r:id="rId10"/>
    <p:sldId id="265" r:id="rId15"/>
    <p:sldId id="266" r:id="rId22"/>
    <p:sldId id="264" r:id="rId14"/>
    <p:sldId id="263" r:id="rId13"/>
    <p:sldId id="267" r:id="rId23"/>
    <p:sldId id="268" r:id="rId24"/>
    <p:sldId id="269" r:id="rId2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Glacial Indifference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Garet Bold" charset="1" panose="00000000000000000000"/>
      <p:regular r:id="rId20"/>
    </p:embeddedFont>
    <p:embeddedFont>
      <p:font typeface="Glacial Indifferen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2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1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Relationship Id="rIdPic900" Type="http://schemas.openxmlformats.org/officeDocument/2006/relationships/image" Target="../media/hidro_flujo.png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Relationship Id="rIdPic900" Type="http://schemas.openxmlformats.org/officeDocument/2006/relationships/image" Target="../media/hidro_impacto.png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2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6000" y="1828800"/>
            <a:ext cx="13716000" cy="515239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0000"/>
              </a:lnSpc>
              <a:spcBef>
                <a:spcPct val="0"/>
              </a:spcBef>
            </a:pPr>
            <a:r>
              <a:rPr lang="es-ES" sz="21500">
                <a:solidFill>
                  <a:srgbClr val="14515C"/>
                </a:solidFill>
                <a:latin typeface="Anton"/>
                <a:ea typeface="Anton"/>
                <a:cs typeface="Anton"/>
                <a:sym typeface="Anton"/>
              </a:rPr>
              <a:t>HIDRO360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20663" y="6053447"/>
            <a:ext cx="9446674" cy="22775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8725"/>
              </a:lnSpc>
              <a:spcBef>
                <a:spcPct val="0"/>
              </a:spcBef>
            </a:pPr>
            <a:r>
              <a:rPr lang="es-ES" sz="13375">
                <a:solidFill>
                  <a:srgbClr val="14515C"/>
                </a:solidFill>
                <a:latin typeface="Anton"/>
                <a:ea typeface="Anton"/>
                <a:cs typeface="Anton"/>
                <a:sym typeface="Anton"/>
              </a:rPr>
              <a:t>PANAMÁ OESTE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21620" y="8151957"/>
            <a:ext cx="19692566" cy="8522914"/>
          </a:xfrm>
          <a:custGeom>
            <a:avLst/>
            <a:gdLst/>
            <a:ahLst/>
            <a:cxnLst/>
            <a:rect r="r" b="b" t="t" l="l"/>
            <a:pathLst>
              <a:path h="8522914" w="19692566">
                <a:moveTo>
                  <a:pt x="0" y="0"/>
                </a:moveTo>
                <a:lnTo>
                  <a:pt x="19692566" y="0"/>
                </a:lnTo>
                <a:lnTo>
                  <a:pt x="19692566" y="8522914"/>
                </a:lnTo>
                <a:lnTo>
                  <a:pt x="0" y="8522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651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6000" y="1608439"/>
            <a:ext cx="13716000" cy="5429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s-ES" sz="3000" spc="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MULTIAGENTE DE IA PARA CISTERNAS</a:t>
            </a:r>
          </a:p>
        </p:txBody>
      </p:sp>
      <p:sp>
        <p:nvSpPr>
          <p:cNvPr name="AutoShape 7" id="7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97761" y="856071"/>
            <a:ext cx="2092478" cy="345259"/>
            <a:chOff x="0" y="0"/>
            <a:chExt cx="2789970" cy="4603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-1060013" y="6273682"/>
            <a:ext cx="3790461" cy="2084753"/>
          </a:xfrm>
          <a:custGeom>
            <a:avLst/>
            <a:gdLst/>
            <a:ahLst/>
            <a:cxnLst/>
            <a:rect r="r" b="b" t="t" l="l"/>
            <a:pathLst>
              <a:path h="2084753" w="3790461">
                <a:moveTo>
                  <a:pt x="0" y="0"/>
                </a:moveTo>
                <a:lnTo>
                  <a:pt x="3790460" y="0"/>
                </a:lnTo>
                <a:lnTo>
                  <a:pt x="3790460" y="2084753"/>
                </a:lnTo>
                <a:lnTo>
                  <a:pt x="0" y="2084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46667" y="1922764"/>
            <a:ext cx="3790461" cy="2084753"/>
          </a:xfrm>
          <a:custGeom>
            <a:avLst/>
            <a:gdLst/>
            <a:ahLst/>
            <a:cxnLst/>
            <a:rect r="r" b="b" t="t" l="l"/>
            <a:pathLst>
              <a:path h="2084753" w="3790461">
                <a:moveTo>
                  <a:pt x="0" y="0"/>
                </a:moveTo>
                <a:lnTo>
                  <a:pt x="3790460" y="0"/>
                </a:lnTo>
                <a:lnTo>
                  <a:pt x="3790460" y="2084753"/>
                </a:lnTo>
                <a:lnTo>
                  <a:pt x="0" y="2084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286000" y="9235440"/>
            <a:ext cx="13716000" cy="5429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s-ES" sz="2400" spc="5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VIFY AI  ·  UTP  ·  HACKATHON FISC AI AGENTS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155791" y="5541115"/>
            <a:ext cx="5064685" cy="3717185"/>
            <a:chOff x="0" y="0"/>
            <a:chExt cx="784652" cy="575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4652" cy="575889"/>
            </a:xfrm>
            <a:custGeom>
              <a:avLst/>
              <a:gdLst/>
              <a:ahLst/>
              <a:cxnLst/>
              <a:rect r="r" b="b" t="t" l="l"/>
              <a:pathLst>
                <a:path h="57588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0731"/>
                  </a:lnTo>
                  <a:cubicBezTo>
                    <a:pt x="784652" y="560149"/>
                    <a:pt x="768911" y="575889"/>
                    <a:pt x="749494" y="575889"/>
                  </a:cubicBezTo>
                  <a:lnTo>
                    <a:pt x="35158" y="575889"/>
                  </a:lnTo>
                  <a:cubicBezTo>
                    <a:pt x="15741" y="575889"/>
                    <a:pt x="0" y="560149"/>
                    <a:pt x="0" y="54073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2444" r="0" b="-524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55330" y="5541115"/>
            <a:ext cx="5064685" cy="3717185"/>
            <a:chOff x="0" y="0"/>
            <a:chExt cx="784652" cy="5758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652" cy="575889"/>
            </a:xfrm>
            <a:custGeom>
              <a:avLst/>
              <a:gdLst/>
              <a:ahLst/>
              <a:cxnLst/>
              <a:rect r="r" b="b" t="t" l="l"/>
              <a:pathLst>
                <a:path h="57588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0731"/>
                  </a:lnTo>
                  <a:cubicBezTo>
                    <a:pt x="784652" y="560149"/>
                    <a:pt x="768911" y="575889"/>
                    <a:pt x="749494" y="575889"/>
                  </a:cubicBezTo>
                  <a:lnTo>
                    <a:pt x="35158" y="575889"/>
                  </a:lnTo>
                  <a:cubicBezTo>
                    <a:pt x="15741" y="575889"/>
                    <a:pt x="0" y="560149"/>
                    <a:pt x="0" y="54073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4"/>
              <a:stretch>
                <a:fillRect l="-3572" t="0" r="-3572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96953" y="2663934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2" y="0"/>
                </a:lnTo>
                <a:lnTo>
                  <a:pt x="325252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68151" y="5868822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2"/>
                </a:lnTo>
                <a:lnTo>
                  <a:pt x="0" y="325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66822" y="9085671"/>
            <a:ext cx="2092478" cy="345259"/>
            <a:chOff x="0" y="0"/>
            <a:chExt cx="2789970" cy="4603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5357334" y="369320"/>
            <a:ext cx="2138564" cy="1176210"/>
          </a:xfrm>
          <a:custGeom>
            <a:avLst/>
            <a:gdLst/>
            <a:ahLst/>
            <a:cxnLst/>
            <a:rect r="r" b="b" t="t" l="l"/>
            <a:pathLst>
              <a:path h="1176210" w="2138564">
                <a:moveTo>
                  <a:pt x="0" y="0"/>
                </a:moveTo>
                <a:lnTo>
                  <a:pt x="2138563" y="0"/>
                </a:lnTo>
                <a:lnTo>
                  <a:pt x="2138563" y="1176210"/>
                </a:lnTo>
                <a:lnTo>
                  <a:pt x="0" y="11762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1854" y="1431230"/>
            <a:ext cx="605137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¿Quién recibe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81854" y="2345630"/>
            <a:ext cx="798370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cisterna?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81854" y="3555031"/>
            <a:ext cx="7673013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Arraiján y La Chorrera, la asignación suele guiarse por el número de quejas: favorece a quien más reporta, no a quien más lo necesita.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9579" y="3212131"/>
            <a:ext cx="5299992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sectores vulnerables que reportan poco quedan fuera del radar, aunque su necesidad sea mayor.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0777" y="6417019"/>
            <a:ext cx="6202758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Mensajes incompletos, repetidos o ambiguos, y a veces con instrucciones que intentan manipular al sistema.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7289" y="2623424"/>
            <a:ext cx="4429327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Sesgo de visibilidad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8487" y="5828311"/>
            <a:ext cx="5383175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Reportes en texto libre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8171" y="1825906"/>
            <a:ext cx="840565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IA con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8171" y="2740306"/>
            <a:ext cx="892219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supervisión humana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171" y="3949708"/>
            <a:ext cx="7673013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IA propone; las reglas deterministas calculan; la persona aprueba; nada sensible ocurre automáticamente.</a:t>
            </a:r>
          </a:p>
        </p:txBody>
      </p:sp>
      <p:sp>
        <p:nvSpPr>
          <p:cNvPr name="AutoShape 6" id="6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932480"/>
            <a:ext cx="8115300" cy="4982279"/>
            <a:chOff x="0" y="0"/>
            <a:chExt cx="1257272" cy="7718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7272" cy="771885"/>
            </a:xfrm>
            <a:custGeom>
              <a:avLst/>
              <a:gdLst/>
              <a:ahLst/>
              <a:cxnLst/>
              <a:rect r="r" b="b" t="t" l="l"/>
              <a:pathLst>
                <a:path h="771885" w="1257272">
                  <a:moveTo>
                    <a:pt x="41022" y="0"/>
                  </a:moveTo>
                  <a:lnTo>
                    <a:pt x="1216251" y="0"/>
                  </a:lnTo>
                  <a:cubicBezTo>
                    <a:pt x="1238906" y="0"/>
                    <a:pt x="1257272" y="18366"/>
                    <a:pt x="1257272" y="41022"/>
                  </a:cubicBezTo>
                  <a:lnTo>
                    <a:pt x="1257272" y="730864"/>
                  </a:lnTo>
                  <a:cubicBezTo>
                    <a:pt x="1257272" y="741743"/>
                    <a:pt x="1252950" y="752177"/>
                    <a:pt x="1245257" y="759870"/>
                  </a:cubicBezTo>
                  <a:cubicBezTo>
                    <a:pt x="1237564" y="767563"/>
                    <a:pt x="1227130" y="771885"/>
                    <a:pt x="1216251" y="771885"/>
                  </a:cubicBezTo>
                  <a:lnTo>
                    <a:pt x="41022" y="771885"/>
                  </a:lnTo>
                  <a:cubicBezTo>
                    <a:pt x="18366" y="771885"/>
                    <a:pt x="0" y="753519"/>
                    <a:pt x="0" y="730864"/>
                  </a:cubicBezTo>
                  <a:lnTo>
                    <a:pt x="0" y="41022"/>
                  </a:lnTo>
                  <a:cubicBezTo>
                    <a:pt x="0" y="18366"/>
                    <a:pt x="18366" y="0"/>
                    <a:pt x="4102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081" r="0" b="-1108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26548" y="6452696"/>
            <a:ext cx="5580673" cy="2611251"/>
            <a:chOff x="0" y="0"/>
            <a:chExt cx="1469807" cy="6877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9807" cy="687737"/>
            </a:xfrm>
            <a:custGeom>
              <a:avLst/>
              <a:gdLst/>
              <a:ahLst/>
              <a:cxnLst/>
              <a:rect r="r" b="b" t="t" l="l"/>
              <a:pathLst>
                <a:path h="687737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646119"/>
                  </a:lnTo>
                  <a:cubicBezTo>
                    <a:pt x="1469807" y="657157"/>
                    <a:pt x="1465422" y="667742"/>
                    <a:pt x="1457617" y="675547"/>
                  </a:cubicBezTo>
                  <a:cubicBezTo>
                    <a:pt x="1449812" y="683352"/>
                    <a:pt x="1439226" y="687737"/>
                    <a:pt x="1428189" y="687737"/>
                  </a:cubicBezTo>
                  <a:lnTo>
                    <a:pt x="41618" y="687737"/>
                  </a:lnTo>
                  <a:cubicBezTo>
                    <a:pt x="30580" y="687737"/>
                    <a:pt x="19995" y="683352"/>
                    <a:pt x="12190" y="675547"/>
                  </a:cubicBezTo>
                  <a:cubicBezTo>
                    <a:pt x="4385" y="667742"/>
                    <a:pt x="0" y="657157"/>
                    <a:pt x="0" y="646119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9807" cy="72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60999" y="6452696"/>
            <a:ext cx="5580673" cy="2611251"/>
            <a:chOff x="0" y="0"/>
            <a:chExt cx="1469807" cy="6877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9807" cy="687737"/>
            </a:xfrm>
            <a:custGeom>
              <a:avLst/>
              <a:gdLst/>
              <a:ahLst/>
              <a:cxnLst/>
              <a:rect r="r" b="b" t="t" l="l"/>
              <a:pathLst>
                <a:path h="687737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646119"/>
                  </a:lnTo>
                  <a:cubicBezTo>
                    <a:pt x="1469807" y="657157"/>
                    <a:pt x="1465422" y="667742"/>
                    <a:pt x="1457617" y="675547"/>
                  </a:cubicBezTo>
                  <a:cubicBezTo>
                    <a:pt x="1449812" y="683352"/>
                    <a:pt x="1439226" y="687737"/>
                    <a:pt x="1428189" y="687737"/>
                  </a:cubicBezTo>
                  <a:lnTo>
                    <a:pt x="41618" y="687737"/>
                  </a:lnTo>
                  <a:cubicBezTo>
                    <a:pt x="30580" y="687737"/>
                    <a:pt x="19995" y="683352"/>
                    <a:pt x="12190" y="675547"/>
                  </a:cubicBezTo>
                  <a:cubicBezTo>
                    <a:pt x="4385" y="667742"/>
                    <a:pt x="0" y="657157"/>
                    <a:pt x="0" y="646119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9807" cy="725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07598" y="7285543"/>
            <a:ext cx="5025838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Cadena de hashes y procedencia visible en cada etapa: gemini, reglas o reglas(fallback).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42049" y="7285543"/>
            <a:ext cx="5025838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persona confirma la lectura del reporte y aprueba la recomendación que origina una misión.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7598" y="6705838"/>
            <a:ext cx="4772055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Todo es auditable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2049" y="6705838"/>
            <a:ext cx="3892163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Dos aprobaciones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141672" y="1971191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141672" y="4160761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304298" y="2519388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Cada rol declara su entrada, salida, límites y nivel de autonomía.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04298" y="4708958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 ambos únicamente proponen; prioridad, plan y auditoría son deterministas.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42009" y="1930681"/>
            <a:ext cx="516081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Ocho roles acotados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2009" y="4120251"/>
            <a:ext cx="4528738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Solo dos usan Gemini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41735" y="856071"/>
            <a:ext cx="2092478" cy="345259"/>
            <a:chOff x="0" y="0"/>
            <a:chExt cx="2789970" cy="460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8171" y="1825906"/>
            <a:ext cx="586836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IA acotada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171" y="2740306"/>
            <a:ext cx="659901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 validada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8171" y="4605628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8171" y="6795198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20798" y="5153825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Las frases con forma de instrucción se excluyen; teléfonos y correos se redactan.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0798" y="7343396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código revalida la salida: toda cifra exige evidencia literal en el texto.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8508" y="4565118"/>
            <a:ext cx="5700036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Texto como dato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8508" y="6754688"/>
            <a:ext cx="4070404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Esquema estricto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25382" y="1455690"/>
            <a:ext cx="4317986" cy="7802610"/>
            <a:chOff x="0" y="0"/>
            <a:chExt cx="668969" cy="12088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8969" cy="1208828"/>
            </a:xfrm>
            <a:custGeom>
              <a:avLst/>
              <a:gdLst/>
              <a:ahLst/>
              <a:cxnLst/>
              <a:rect r="r" b="b" t="t" l="l"/>
              <a:pathLst>
                <a:path h="1208828" w="668969">
                  <a:moveTo>
                    <a:pt x="41238" y="0"/>
                  </a:moveTo>
                  <a:lnTo>
                    <a:pt x="627731" y="0"/>
                  </a:lnTo>
                  <a:cubicBezTo>
                    <a:pt x="638668" y="0"/>
                    <a:pt x="649157" y="4345"/>
                    <a:pt x="656891" y="12078"/>
                  </a:cubicBezTo>
                  <a:cubicBezTo>
                    <a:pt x="664624" y="19812"/>
                    <a:pt x="668969" y="30301"/>
                    <a:pt x="668969" y="41238"/>
                  </a:cubicBezTo>
                  <a:lnTo>
                    <a:pt x="668969" y="1167591"/>
                  </a:lnTo>
                  <a:cubicBezTo>
                    <a:pt x="668969" y="1190366"/>
                    <a:pt x="650506" y="1208828"/>
                    <a:pt x="627731" y="1208828"/>
                  </a:cubicBezTo>
                  <a:lnTo>
                    <a:pt x="41238" y="1208828"/>
                  </a:lnTo>
                  <a:cubicBezTo>
                    <a:pt x="18463" y="1208828"/>
                    <a:pt x="0" y="1190366"/>
                    <a:pt x="0" y="1167591"/>
                  </a:cubicBezTo>
                  <a:lnTo>
                    <a:pt x="0" y="41238"/>
                  </a:lnTo>
                  <a:cubicBezTo>
                    <a:pt x="0" y="18463"/>
                    <a:pt x="18463" y="0"/>
                    <a:pt x="41238" y="0"/>
                  </a:cubicBezTo>
                  <a:close/>
                </a:path>
              </a:pathLst>
            </a:custGeom>
            <a:blipFill>
              <a:blip r:embed="rId5"/>
              <a:stretch>
                <a:fillRect l="-85864" t="0" r="-8586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60226" y="1940206"/>
            <a:ext cx="5580673" cy="2236545"/>
            <a:chOff x="0" y="0"/>
            <a:chExt cx="1469807" cy="589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9807" cy="589049"/>
            </a:xfrm>
            <a:custGeom>
              <a:avLst/>
              <a:gdLst/>
              <a:ahLst/>
              <a:cxnLst/>
              <a:rect r="r" b="b" t="t" l="l"/>
              <a:pathLst>
                <a:path h="589049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547431"/>
                  </a:lnTo>
                  <a:cubicBezTo>
                    <a:pt x="1469807" y="558469"/>
                    <a:pt x="1465422" y="569054"/>
                    <a:pt x="1457617" y="576859"/>
                  </a:cubicBezTo>
                  <a:cubicBezTo>
                    <a:pt x="1449812" y="584664"/>
                    <a:pt x="1439226" y="589049"/>
                    <a:pt x="1428189" y="589049"/>
                  </a:cubicBezTo>
                  <a:lnTo>
                    <a:pt x="41618" y="589049"/>
                  </a:lnTo>
                  <a:cubicBezTo>
                    <a:pt x="30580" y="589049"/>
                    <a:pt x="19995" y="584664"/>
                    <a:pt x="12190" y="576859"/>
                  </a:cubicBezTo>
                  <a:cubicBezTo>
                    <a:pt x="4385" y="569054"/>
                    <a:pt x="0" y="558469"/>
                    <a:pt x="0" y="547431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9807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60226" y="4605628"/>
            <a:ext cx="5580673" cy="2236545"/>
            <a:chOff x="0" y="0"/>
            <a:chExt cx="1469807" cy="589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9807" cy="589049"/>
            </a:xfrm>
            <a:custGeom>
              <a:avLst/>
              <a:gdLst/>
              <a:ahLst/>
              <a:cxnLst/>
              <a:rect r="r" b="b" t="t" l="l"/>
              <a:pathLst>
                <a:path h="589049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547431"/>
                  </a:lnTo>
                  <a:cubicBezTo>
                    <a:pt x="1469807" y="558469"/>
                    <a:pt x="1465422" y="569054"/>
                    <a:pt x="1457617" y="576859"/>
                  </a:cubicBezTo>
                  <a:cubicBezTo>
                    <a:pt x="1449812" y="584664"/>
                    <a:pt x="1439226" y="589049"/>
                    <a:pt x="1428189" y="589049"/>
                  </a:cubicBezTo>
                  <a:lnTo>
                    <a:pt x="41618" y="589049"/>
                  </a:lnTo>
                  <a:cubicBezTo>
                    <a:pt x="30580" y="589049"/>
                    <a:pt x="19995" y="584664"/>
                    <a:pt x="12190" y="576859"/>
                  </a:cubicBezTo>
                  <a:cubicBezTo>
                    <a:pt x="4385" y="569054"/>
                    <a:pt x="0" y="558469"/>
                    <a:pt x="0" y="547431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9807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541276" y="2773053"/>
            <a:ext cx="5025838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no escribe datos: sector y asignación los deciden catálogo y reglas.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41276" y="5438475"/>
            <a:ext cx="5025838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 Gemini falla, el resultado se rotula reglas(fallback), nunca como IA.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41276" y="2193348"/>
            <a:ext cx="4951994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Sin herramientas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41276" y="4858771"/>
            <a:ext cx="4921713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Respaldo declarado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610994" y="8118524"/>
            <a:ext cx="2845084" cy="1564796"/>
          </a:xfrm>
          <a:custGeom>
            <a:avLst/>
            <a:gdLst/>
            <a:ahLst/>
            <a:cxnLst/>
            <a:rect r="r" b="b" t="t" l="l"/>
            <a:pathLst>
              <a:path h="1564796" w="2845084">
                <a:moveTo>
                  <a:pt x="0" y="0"/>
                </a:moveTo>
                <a:lnTo>
                  <a:pt x="2845083" y="0"/>
                </a:lnTo>
                <a:lnTo>
                  <a:pt x="2845083" y="1564796"/>
                </a:lnTo>
                <a:lnTo>
                  <a:pt x="0" y="1564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5736086" y="856071"/>
            <a:ext cx="2092478" cy="345259"/>
            <a:chOff x="0" y="0"/>
            <a:chExt cx="2789970" cy="460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709026" y="2250240"/>
            <a:ext cx="6149748" cy="7008060"/>
            <a:chOff x="0" y="0"/>
            <a:chExt cx="1898294" cy="2163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8294" cy="2163236"/>
            </a:xfrm>
            <a:custGeom>
              <a:avLst/>
              <a:gdLst/>
              <a:ahLst/>
              <a:cxnLst/>
              <a:rect r="r" b="b" t="t" l="l"/>
              <a:pathLst>
                <a:path h="2163236" w="1898294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2023113"/>
                  </a:lnTo>
                  <a:cubicBezTo>
                    <a:pt x="852336" y="2060276"/>
                    <a:pt x="867099" y="2095917"/>
                    <a:pt x="893377" y="2122195"/>
                  </a:cubicBezTo>
                  <a:cubicBezTo>
                    <a:pt x="919656" y="2148473"/>
                    <a:pt x="955296" y="2163236"/>
                    <a:pt x="992459" y="2163236"/>
                  </a:cubicBezTo>
                  <a:lnTo>
                    <a:pt x="1758172" y="2163236"/>
                  </a:lnTo>
                  <a:cubicBezTo>
                    <a:pt x="1795335" y="2163236"/>
                    <a:pt x="1830976" y="2148473"/>
                    <a:pt x="1857253" y="2122195"/>
                  </a:cubicBezTo>
                  <a:cubicBezTo>
                    <a:pt x="1883532" y="2095916"/>
                    <a:pt x="1898294" y="2060276"/>
                    <a:pt x="1898294" y="2023113"/>
                  </a:cubicBezTo>
                  <a:lnTo>
                    <a:pt x="1898294" y="576944"/>
                  </a:lnTo>
                  <a:cubicBezTo>
                    <a:pt x="1898294" y="499557"/>
                    <a:pt x="1835559" y="436823"/>
                    <a:pt x="1758172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3"/>
              <a:stretch>
                <a:fillRect l="-18993" t="0" r="-5237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4560" y="5029200"/>
            <a:ext cx="496815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Prioridad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560" y="5943600"/>
            <a:ext cx="542103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 asignación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4560" y="7153002"/>
            <a:ext cx="6310743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 puntaje determinista que no cuenta quejas y un planificador de flujo máximo con resultados reproducibles.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641419" y="2250240"/>
            <a:ext cx="5988104" cy="2055405"/>
            <a:chOff x="0" y="0"/>
            <a:chExt cx="927714" cy="3184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714" cy="318436"/>
            </a:xfrm>
            <a:custGeom>
              <a:avLst/>
              <a:gdLst/>
              <a:ahLst/>
              <a:cxnLst/>
              <a:rect r="r" b="b" t="t" l="l"/>
              <a:pathLst>
                <a:path h="318436" w="927714">
                  <a:moveTo>
                    <a:pt x="54301" y="0"/>
                  </a:moveTo>
                  <a:lnTo>
                    <a:pt x="873413" y="0"/>
                  </a:lnTo>
                  <a:cubicBezTo>
                    <a:pt x="903403" y="0"/>
                    <a:pt x="927714" y="24311"/>
                    <a:pt x="927714" y="54301"/>
                  </a:cubicBezTo>
                  <a:lnTo>
                    <a:pt x="927714" y="264135"/>
                  </a:lnTo>
                  <a:cubicBezTo>
                    <a:pt x="927714" y="278537"/>
                    <a:pt x="921993" y="292348"/>
                    <a:pt x="911810" y="302532"/>
                  </a:cubicBezTo>
                  <a:cubicBezTo>
                    <a:pt x="901626" y="312715"/>
                    <a:pt x="887815" y="318436"/>
                    <a:pt x="873413" y="318436"/>
                  </a:cubicBezTo>
                  <a:lnTo>
                    <a:pt x="54301" y="318436"/>
                  </a:lnTo>
                  <a:cubicBezTo>
                    <a:pt x="39900" y="318436"/>
                    <a:pt x="26088" y="312715"/>
                    <a:pt x="15904" y="302532"/>
                  </a:cubicBezTo>
                  <a:cubicBezTo>
                    <a:pt x="5721" y="292348"/>
                    <a:pt x="0" y="278537"/>
                    <a:pt x="0" y="264135"/>
                  </a:cubicBezTo>
                  <a:lnTo>
                    <a:pt x="0" y="54301"/>
                  </a:lnTo>
                  <a:cubicBezTo>
                    <a:pt x="0" y="39900"/>
                    <a:pt x="5721" y="26088"/>
                    <a:pt x="15904" y="15904"/>
                  </a:cubicBezTo>
                  <a:cubicBezTo>
                    <a:pt x="26088" y="5721"/>
                    <a:pt x="39900" y="0"/>
                    <a:pt x="5430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6868" r="0" b="-4686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896855" y="6638831"/>
            <a:ext cx="6204516" cy="2236545"/>
            <a:chOff x="0" y="0"/>
            <a:chExt cx="1634111" cy="5890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4111" cy="589049"/>
            </a:xfrm>
            <a:custGeom>
              <a:avLst/>
              <a:gdLst/>
              <a:ahLst/>
              <a:cxnLst/>
              <a:rect r="r" b="b" t="t" l="l"/>
              <a:pathLst>
                <a:path h="589049" w="1634111">
                  <a:moveTo>
                    <a:pt x="37434" y="0"/>
                  </a:moveTo>
                  <a:lnTo>
                    <a:pt x="1596678" y="0"/>
                  </a:lnTo>
                  <a:cubicBezTo>
                    <a:pt x="1617352" y="0"/>
                    <a:pt x="1634111" y="16760"/>
                    <a:pt x="1634111" y="37434"/>
                  </a:cubicBezTo>
                  <a:lnTo>
                    <a:pt x="1634111" y="551615"/>
                  </a:lnTo>
                  <a:cubicBezTo>
                    <a:pt x="1634111" y="572289"/>
                    <a:pt x="1617352" y="589049"/>
                    <a:pt x="1596678" y="589049"/>
                  </a:cubicBezTo>
                  <a:lnTo>
                    <a:pt x="37434" y="589049"/>
                  </a:lnTo>
                  <a:cubicBezTo>
                    <a:pt x="16760" y="589049"/>
                    <a:pt x="0" y="572289"/>
                    <a:pt x="0" y="551615"/>
                  </a:cubicBezTo>
                  <a:lnTo>
                    <a:pt x="0" y="37434"/>
                  </a:lnTo>
                  <a:cubicBezTo>
                    <a:pt x="0" y="16760"/>
                    <a:pt x="16760" y="0"/>
                    <a:pt x="37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34111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96855" y="4054337"/>
            <a:ext cx="6204516" cy="2236545"/>
            <a:chOff x="0" y="0"/>
            <a:chExt cx="1634111" cy="589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4111" cy="589049"/>
            </a:xfrm>
            <a:custGeom>
              <a:avLst/>
              <a:gdLst/>
              <a:ahLst/>
              <a:cxnLst/>
              <a:rect r="r" b="b" t="t" l="l"/>
              <a:pathLst>
                <a:path h="589049" w="1634111">
                  <a:moveTo>
                    <a:pt x="37434" y="0"/>
                  </a:moveTo>
                  <a:lnTo>
                    <a:pt x="1596678" y="0"/>
                  </a:lnTo>
                  <a:cubicBezTo>
                    <a:pt x="1617352" y="0"/>
                    <a:pt x="1634111" y="16760"/>
                    <a:pt x="1634111" y="37434"/>
                  </a:cubicBezTo>
                  <a:lnTo>
                    <a:pt x="1634111" y="551615"/>
                  </a:lnTo>
                  <a:cubicBezTo>
                    <a:pt x="1634111" y="572289"/>
                    <a:pt x="1617352" y="589049"/>
                    <a:pt x="1596678" y="589049"/>
                  </a:cubicBezTo>
                  <a:lnTo>
                    <a:pt x="37434" y="589049"/>
                  </a:lnTo>
                  <a:cubicBezTo>
                    <a:pt x="16760" y="589049"/>
                    <a:pt x="0" y="572289"/>
                    <a:pt x="0" y="551615"/>
                  </a:cubicBezTo>
                  <a:lnTo>
                    <a:pt x="0" y="37434"/>
                  </a:lnTo>
                  <a:cubicBezTo>
                    <a:pt x="0" y="16760"/>
                    <a:pt x="16760" y="0"/>
                    <a:pt x="37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34111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177905" y="7471677"/>
            <a:ext cx="5662994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15 L por persona, redondeada a 100 L; excluye cisternas no elegibles.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77905" y="4887184"/>
            <a:ext cx="5662994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Edmonds-Karp incremental: nunca reduce lo ya asignado a un sector previo.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7905" y="6891973"/>
            <a:ext cx="5101655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Demanda estimada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77905" y="4307479"/>
            <a:ext cx="3484755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Flujo máximo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1006623" y="1693172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169249" y="2241369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Horas sin agua 40 %, población afectada 30 % y vulnerabilidad del sector 30 %.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06959" y="1652662"/>
            <a:ext cx="4235914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s-ES" sz="2600" spc="-5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Fórmula 40 / 30 / 30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5709026" y="542230"/>
            <a:ext cx="2036286" cy="1119957"/>
          </a:xfrm>
          <a:custGeom>
            <a:avLst/>
            <a:gdLst/>
            <a:ahLst/>
            <a:cxnLst/>
            <a:rect r="r" b="b" t="t" l="l"/>
            <a:pathLst>
              <a:path h="1119957" w="2036286">
                <a:moveTo>
                  <a:pt x="0" y="0"/>
                </a:moveTo>
                <a:lnTo>
                  <a:pt x="2036286" y="0"/>
                </a:lnTo>
                <a:lnTo>
                  <a:pt x="2036286" y="1119957"/>
                </a:lnTo>
                <a:lnTo>
                  <a:pt x="0" y="11199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434560" y="9527841"/>
            <a:ext cx="2092478" cy="345259"/>
            <a:chOff x="0" y="0"/>
            <a:chExt cx="2789970" cy="460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061295" y="1940206"/>
            <a:ext cx="5064685" cy="3731876"/>
            <a:chOff x="0" y="0"/>
            <a:chExt cx="784652" cy="5781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4652" cy="578165"/>
            </a:xfrm>
            <a:custGeom>
              <a:avLst/>
              <a:gdLst/>
              <a:ahLst/>
              <a:cxnLst/>
              <a:rect r="r" b="b" t="t" l="l"/>
              <a:pathLst>
                <a:path h="578165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3007"/>
                  </a:lnTo>
                  <a:cubicBezTo>
                    <a:pt x="784652" y="562424"/>
                    <a:pt x="768911" y="578165"/>
                    <a:pt x="749494" y="578165"/>
                  </a:cubicBezTo>
                  <a:lnTo>
                    <a:pt x="35158" y="578165"/>
                  </a:lnTo>
                  <a:cubicBezTo>
                    <a:pt x="15741" y="578165"/>
                    <a:pt x="0" y="562424"/>
                    <a:pt x="0" y="543007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3"/>
              <a:stretch>
                <a:fillRect l="-5401" t="0" r="-540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602697" y="1940206"/>
            <a:ext cx="5064685" cy="3731876"/>
            <a:chOff x="0" y="0"/>
            <a:chExt cx="784652" cy="578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652" cy="578165"/>
            </a:xfrm>
            <a:custGeom>
              <a:avLst/>
              <a:gdLst/>
              <a:ahLst/>
              <a:cxnLst/>
              <a:rect r="r" b="b" t="t" l="l"/>
              <a:pathLst>
                <a:path h="578165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3007"/>
                  </a:lnTo>
                  <a:cubicBezTo>
                    <a:pt x="784652" y="562424"/>
                    <a:pt x="768911" y="578165"/>
                    <a:pt x="749494" y="578165"/>
                  </a:cubicBezTo>
                  <a:lnTo>
                    <a:pt x="35158" y="578165"/>
                  </a:lnTo>
                  <a:cubicBezTo>
                    <a:pt x="15741" y="578165"/>
                    <a:pt x="0" y="562424"/>
                    <a:pt x="0" y="543007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4"/>
              <a:stretch>
                <a:fillRect l="-5401" t="0" r="-540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58171" y="6495664"/>
            <a:ext cx="605414" cy="60541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68129" y="6495664"/>
            <a:ext cx="605414" cy="60541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14692" y="6495664"/>
            <a:ext cx="605414" cy="60541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521566" y="6495664"/>
            <a:ext cx="605414" cy="60541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8171" y="1825906"/>
            <a:ext cx="644500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Arquitectura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8171" y="2740306"/>
            <a:ext cx="549742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 ocho roles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8171" y="3949708"/>
            <a:ext cx="6445006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tubería supervisada: cada rol tiene una responsabilidad acotada y solo los roles 2 y 6 usan un modelo de lenguaje.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8171" y="8212455"/>
            <a:ext cx="3310487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Reglas extraen campos y evidencia; Gemini propone.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68129" y="8212455"/>
            <a:ext cx="3310487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Flujo máximo de cisternas; seis etapas con procedencia.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14692" y="8212455"/>
            <a:ext cx="3310487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Sugiere sector y duplicados; puntaje 40/30/30.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21566" y="8212455"/>
            <a:ext cx="3310487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supervisor decide con motivo; el ESP32-S3 ejecuta.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8171" y="7310628"/>
            <a:ext cx="3042840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4"/>
              </a:lnSpc>
              <a:spcBef>
                <a:spcPct val="0"/>
              </a:spcBef>
            </a:pPr>
            <a:r>
              <a:rPr lang="es-ES" b="true" sz="2400" spc="-48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Ingesta e interpretación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68129" y="7310628"/>
            <a:ext cx="3310487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4"/>
              </a:lnSpc>
              <a:spcBef>
                <a:spcPct val="0"/>
              </a:spcBef>
            </a:pPr>
            <a:r>
              <a:rPr lang="es-ES" b="true" sz="2400" spc="-48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Plan y orquestación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14692" y="7310628"/>
            <a:ext cx="3310487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4"/>
              </a:lnSpc>
              <a:spcBef>
                <a:spcPct val="0"/>
              </a:spcBef>
            </a:pPr>
            <a:r>
              <a:rPr lang="es-ES" b="true" sz="2400" spc="-48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Sector y prioridad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21566" y="7310628"/>
            <a:ext cx="3310487" cy="720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4"/>
              </a:lnSpc>
              <a:spcBef>
                <a:spcPct val="0"/>
              </a:spcBef>
            </a:pPr>
            <a:r>
              <a:rPr lang="es-ES" b="true" sz="2400" spc="-48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Humano y terminal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0382" y="6567536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40340" y="6567536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86903" y="6567536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93777" y="6567536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030895" y="856071"/>
            <a:ext cx="2092478" cy="345259"/>
            <a:chOff x="0" y="0"/>
            <a:chExt cx="2789970" cy="4603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1" id="41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9095" y="1859057"/>
            <a:ext cx="72088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Del reporte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9095" y="2773457"/>
            <a:ext cx="733075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la cisterna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45920" y="4023360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45920" y="6355080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28800" y="4572000"/>
            <a:ext cx="54864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persona confirma la lectura del reporte y aprueba la recomendación; sin aprobación no hay misión.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8800" y="6903720"/>
            <a:ext cx="54864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Auditoría y trazas guardan cada paso, con cadena de hashes.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6000" y="3977640"/>
            <a:ext cx="521208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Dos puntos humanos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6309360"/>
            <a:ext cx="521208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Todo queda registrado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494218" y="318419"/>
            <a:ext cx="2291090" cy="1260099"/>
          </a:xfrm>
          <a:custGeom>
            <a:avLst/>
            <a:gdLst/>
            <a:ahLst/>
            <a:cxnLst/>
            <a:rect r="r" b="b" t="t" l="l"/>
            <a:pathLst>
              <a:path h="1260099" w="2291090">
                <a:moveTo>
                  <a:pt x="0" y="0"/>
                </a:moveTo>
                <a:lnTo>
                  <a:pt x="2291090" y="0"/>
                </a:lnTo>
                <a:lnTo>
                  <a:pt x="2291090" y="1260100"/>
                </a:lnTo>
                <a:lnTo>
                  <a:pt x="0" y="126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9341695"/>
            <a:ext cx="2092478" cy="345259"/>
            <a:chOff x="0" y="0"/>
            <a:chExt cx="2789970" cy="460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pic>
        <p:nvPicPr>
          <p:cNvPr id="900" name="Figura 900" descr="Flujo de un reporte: ocho roles y dos puntos de aprobación humana"/>
          <p:cNvPicPr>
            <a:picLocks noChangeAspect="1"/>
          </p:cNvPicPr>
          <p:nvPr/>
        </p:nvPicPr>
        <p:blipFill>
          <a:blip r:embed="rIdPic900"/>
          <a:stretch>
            <a:fillRect/>
          </a:stretch>
        </p:blipFill>
        <p:spPr>
          <a:xfrm>
            <a:off x="7863840" y="2651760"/>
            <a:ext cx="9418320" cy="5395912"/>
          </a:xfrm>
          <a:prstGeom prst="roundRect">
            <a:avLst>
              <a:gd name="adj" fmla="val 3500"/>
            </a:avLst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25837" y="1859057"/>
            <a:ext cx="61276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Despliegue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5837" y="2773457"/>
            <a:ext cx="374428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previsto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5837" y="3982859"/>
            <a:ext cx="6583317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Interfaz Flet, API FastAPI, base en Supabase y una terminal ESP32-S3 por cisterna; Raspberry Pi para la demo local.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5837" y="7528168"/>
            <a:ext cx="6583317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Aún no se probó en las plataformas reales.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31933" y="1455690"/>
            <a:ext cx="4317986" cy="7745390"/>
            <a:chOff x="0" y="0"/>
            <a:chExt cx="668969" cy="1199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8969" cy="1199964"/>
            </a:xfrm>
            <a:custGeom>
              <a:avLst/>
              <a:gdLst/>
              <a:ahLst/>
              <a:cxnLst/>
              <a:rect r="r" b="b" t="t" l="l"/>
              <a:pathLst>
                <a:path h="1199964" w="668969">
                  <a:moveTo>
                    <a:pt x="41238" y="0"/>
                  </a:moveTo>
                  <a:lnTo>
                    <a:pt x="627731" y="0"/>
                  </a:lnTo>
                  <a:cubicBezTo>
                    <a:pt x="638668" y="0"/>
                    <a:pt x="649157" y="4345"/>
                    <a:pt x="656891" y="12078"/>
                  </a:cubicBezTo>
                  <a:cubicBezTo>
                    <a:pt x="664624" y="19812"/>
                    <a:pt x="668969" y="30301"/>
                    <a:pt x="668969" y="41238"/>
                  </a:cubicBezTo>
                  <a:lnTo>
                    <a:pt x="668969" y="1158726"/>
                  </a:lnTo>
                  <a:cubicBezTo>
                    <a:pt x="668969" y="1181501"/>
                    <a:pt x="650506" y="1199964"/>
                    <a:pt x="627731" y="1199964"/>
                  </a:cubicBezTo>
                  <a:lnTo>
                    <a:pt x="41238" y="1199964"/>
                  </a:lnTo>
                  <a:cubicBezTo>
                    <a:pt x="18463" y="1199964"/>
                    <a:pt x="0" y="1181501"/>
                    <a:pt x="0" y="1158726"/>
                  </a:cubicBezTo>
                  <a:lnTo>
                    <a:pt x="0" y="41238"/>
                  </a:lnTo>
                  <a:cubicBezTo>
                    <a:pt x="0" y="18463"/>
                    <a:pt x="18463" y="0"/>
                    <a:pt x="41238" y="0"/>
                  </a:cubicBezTo>
                  <a:close/>
                </a:path>
              </a:pathLst>
            </a:custGeom>
            <a:blipFill>
              <a:blip r:embed="rId3"/>
              <a:stretch>
                <a:fillRect l="-84868" t="0" r="-8486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8846" y="2161671"/>
            <a:ext cx="5580673" cy="1912455"/>
            <a:chOff x="0" y="0"/>
            <a:chExt cx="1469807" cy="5036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9807" cy="503692"/>
            </a:xfrm>
            <a:custGeom>
              <a:avLst/>
              <a:gdLst/>
              <a:ahLst/>
              <a:cxnLst/>
              <a:rect r="r" b="b" t="t" l="l"/>
              <a:pathLst>
                <a:path h="503692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462074"/>
                  </a:lnTo>
                  <a:cubicBezTo>
                    <a:pt x="1469807" y="473112"/>
                    <a:pt x="1465422" y="483697"/>
                    <a:pt x="1457617" y="491502"/>
                  </a:cubicBezTo>
                  <a:cubicBezTo>
                    <a:pt x="1449812" y="499307"/>
                    <a:pt x="1439226" y="503692"/>
                    <a:pt x="1428189" y="503692"/>
                  </a:cubicBezTo>
                  <a:lnTo>
                    <a:pt x="41618" y="503692"/>
                  </a:lnTo>
                  <a:cubicBezTo>
                    <a:pt x="30580" y="503692"/>
                    <a:pt x="19995" y="499307"/>
                    <a:pt x="12190" y="491502"/>
                  </a:cubicBezTo>
                  <a:cubicBezTo>
                    <a:pt x="4385" y="483697"/>
                    <a:pt x="0" y="473112"/>
                    <a:pt x="0" y="462074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9807" cy="541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8846" y="4527672"/>
            <a:ext cx="5580673" cy="1912455"/>
            <a:chOff x="0" y="0"/>
            <a:chExt cx="1469807" cy="5036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9807" cy="503692"/>
            </a:xfrm>
            <a:custGeom>
              <a:avLst/>
              <a:gdLst/>
              <a:ahLst/>
              <a:cxnLst/>
              <a:rect r="r" b="b" t="t" l="l"/>
              <a:pathLst>
                <a:path h="503692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462074"/>
                  </a:lnTo>
                  <a:cubicBezTo>
                    <a:pt x="1469807" y="473112"/>
                    <a:pt x="1465422" y="483697"/>
                    <a:pt x="1457617" y="491502"/>
                  </a:cubicBezTo>
                  <a:cubicBezTo>
                    <a:pt x="1449812" y="499307"/>
                    <a:pt x="1439226" y="503692"/>
                    <a:pt x="1428189" y="503692"/>
                  </a:cubicBezTo>
                  <a:lnTo>
                    <a:pt x="41618" y="503692"/>
                  </a:lnTo>
                  <a:cubicBezTo>
                    <a:pt x="30580" y="503692"/>
                    <a:pt x="19995" y="499307"/>
                    <a:pt x="12190" y="491502"/>
                  </a:cubicBezTo>
                  <a:cubicBezTo>
                    <a:pt x="4385" y="483697"/>
                    <a:pt x="0" y="473112"/>
                    <a:pt x="0" y="462074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69807" cy="541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8846" y="6897328"/>
            <a:ext cx="5580673" cy="1912455"/>
            <a:chOff x="0" y="0"/>
            <a:chExt cx="1469807" cy="5036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9807" cy="503692"/>
            </a:xfrm>
            <a:custGeom>
              <a:avLst/>
              <a:gdLst/>
              <a:ahLst/>
              <a:cxnLst/>
              <a:rect r="r" b="b" t="t" l="l"/>
              <a:pathLst>
                <a:path h="503692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462074"/>
                  </a:lnTo>
                  <a:cubicBezTo>
                    <a:pt x="1469807" y="473112"/>
                    <a:pt x="1465422" y="483697"/>
                    <a:pt x="1457617" y="491502"/>
                  </a:cubicBezTo>
                  <a:cubicBezTo>
                    <a:pt x="1449812" y="499307"/>
                    <a:pt x="1439226" y="503692"/>
                    <a:pt x="1428189" y="503692"/>
                  </a:cubicBezTo>
                  <a:lnTo>
                    <a:pt x="41618" y="503692"/>
                  </a:lnTo>
                  <a:cubicBezTo>
                    <a:pt x="30580" y="503692"/>
                    <a:pt x="19995" y="499307"/>
                    <a:pt x="12190" y="491502"/>
                  </a:cubicBezTo>
                  <a:cubicBezTo>
                    <a:pt x="4385" y="483697"/>
                    <a:pt x="0" y="473112"/>
                    <a:pt x="0" y="462074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9807" cy="541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895" y="2994518"/>
            <a:ext cx="5025838" cy="69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Portal ciudadano, consola admin y API.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895" y="5360519"/>
            <a:ext cx="5025838" cy="69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SQLite en demo; PostgreSQL en Supabase.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9895" y="7730175"/>
            <a:ext cx="5025838" cy="69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ESP32-S3 con pantalla táctil de 2,8 pulgadas.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9895" y="2414813"/>
            <a:ext cx="4108599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Interfaz y API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59895" y="4780815"/>
            <a:ext cx="3892163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9895" y="7150470"/>
            <a:ext cx="3892163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Terminal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2700000">
            <a:off x="16160094" y="6275764"/>
            <a:ext cx="683187" cy="700924"/>
          </a:xfrm>
          <a:custGeom>
            <a:avLst/>
            <a:gdLst/>
            <a:ahLst/>
            <a:cxnLst/>
            <a:rect r="r" b="b" t="t" l="l"/>
            <a:pathLst>
              <a:path h="700924" w="683187">
                <a:moveTo>
                  <a:pt x="0" y="0"/>
                </a:moveTo>
                <a:lnTo>
                  <a:pt x="683187" y="0"/>
                </a:lnTo>
                <a:lnTo>
                  <a:pt x="683187" y="700923"/>
                </a:lnTo>
                <a:lnTo>
                  <a:pt x="0" y="7009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869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501688" y="9088617"/>
            <a:ext cx="2266506" cy="1246578"/>
          </a:xfrm>
          <a:custGeom>
            <a:avLst/>
            <a:gdLst/>
            <a:ahLst/>
            <a:cxnLst/>
            <a:rect r="r" b="b" t="t" l="l"/>
            <a:pathLst>
              <a:path h="1246578" w="2266506">
                <a:moveTo>
                  <a:pt x="0" y="0"/>
                </a:moveTo>
                <a:lnTo>
                  <a:pt x="2266506" y="0"/>
                </a:lnTo>
                <a:lnTo>
                  <a:pt x="2266506" y="1246578"/>
                </a:lnTo>
                <a:lnTo>
                  <a:pt x="0" y="12465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375692" y="856071"/>
            <a:ext cx="2092478" cy="345259"/>
            <a:chOff x="0" y="0"/>
            <a:chExt cx="2789970" cy="460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3" id="33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8532" y="1904479"/>
            <a:ext cx="612760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532" y="2818879"/>
            <a:ext cx="592828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 matices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8532" y="4028280"/>
            <a:ext cx="6583317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todo mejoró: la ventaja es clara en orden de atención, pero no en equidad ni en sectores completos.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54051" y="5781492"/>
            <a:ext cx="5064685" cy="3476808"/>
            <a:chOff x="0" y="0"/>
            <a:chExt cx="784652" cy="5386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4652" cy="538649"/>
            </a:xfrm>
            <a:custGeom>
              <a:avLst/>
              <a:gdLst/>
              <a:ahLst/>
              <a:cxnLst/>
              <a:rect r="r" b="b" t="t" l="l"/>
              <a:pathLst>
                <a:path h="53864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03491"/>
                  </a:lnTo>
                  <a:cubicBezTo>
                    <a:pt x="784652" y="522908"/>
                    <a:pt x="768911" y="538649"/>
                    <a:pt x="749494" y="538649"/>
                  </a:cubicBezTo>
                  <a:lnTo>
                    <a:pt x="35158" y="538649"/>
                  </a:lnTo>
                  <a:cubicBezTo>
                    <a:pt x="15741" y="538649"/>
                    <a:pt x="0" y="522908"/>
                    <a:pt x="0" y="50349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3"/>
              <a:stretch>
                <a:fillRect l="-1615" t="0" r="-161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58070" y="5781492"/>
            <a:ext cx="5064685" cy="3476808"/>
            <a:chOff x="0" y="0"/>
            <a:chExt cx="784652" cy="5386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4652" cy="538649"/>
            </a:xfrm>
            <a:custGeom>
              <a:avLst/>
              <a:gdLst/>
              <a:ahLst/>
              <a:cxnLst/>
              <a:rect r="r" b="b" t="t" l="l"/>
              <a:pathLst>
                <a:path h="53864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03491"/>
                  </a:lnTo>
                  <a:cubicBezTo>
                    <a:pt x="784652" y="522908"/>
                    <a:pt x="768911" y="538649"/>
                    <a:pt x="749494" y="538649"/>
                  </a:cubicBezTo>
                  <a:lnTo>
                    <a:pt x="35158" y="538649"/>
                  </a:lnTo>
                  <a:cubicBezTo>
                    <a:pt x="15741" y="538649"/>
                    <a:pt x="0" y="522908"/>
                    <a:pt x="0" y="50349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4"/>
              <a:stretch>
                <a:fillRect l="-26070" t="-51383" r="-32341" b="-207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18532" y="6543639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68129" y="1527636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2"/>
                </a:lnTo>
                <a:lnTo>
                  <a:pt x="0" y="325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68129" y="3670056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81159" y="7091836"/>
            <a:ext cx="6202780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sectores totalmente cubiertos bajan en cuatro de seis celdas.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0755" y="2075833"/>
            <a:ext cx="620278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Menor en cuatro de seis celdas, pero mayor en dos celdas neutras.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755" y="4218253"/>
            <a:ext cx="620278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Marca 345 de 356 sectores sin reportes para verificación proactiva.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18869" y="6503129"/>
            <a:ext cx="603504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Menos sectores completos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68466" y="1487125"/>
            <a:ext cx="5496332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Gini sin mejora clara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68466" y="3629546"/>
            <a:ext cx="5916471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 invisibilidad persiste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18532" y="9261885"/>
            <a:ext cx="2092478" cy="345259"/>
            <a:chOff x="0" y="0"/>
            <a:chExt cx="2789970" cy="4603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0">
            <a:off x="7151629" y="480798"/>
            <a:ext cx="1992371" cy="1095804"/>
          </a:xfrm>
          <a:custGeom>
            <a:avLst/>
            <a:gdLst/>
            <a:ahLst/>
            <a:cxnLst/>
            <a:rect r="r" b="b" t="t" l="l"/>
            <a:pathLst>
              <a:path h="1095804" w="1992371">
                <a:moveTo>
                  <a:pt x="0" y="0"/>
                </a:moveTo>
                <a:lnTo>
                  <a:pt x="1992371" y="0"/>
                </a:lnTo>
                <a:lnTo>
                  <a:pt x="1992371" y="1095804"/>
                </a:lnTo>
                <a:lnTo>
                  <a:pt x="0" y="1095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1877" y="1783355"/>
            <a:ext cx="546142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Evaluación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1877" y="2697755"/>
            <a:ext cx="546142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funcional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31877" y="3907157"/>
            <a:ext cx="6583317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Cuatro instrumentos: casos funcionales, pruebas automatizadas, verificación con Gemini real y simulación.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787770" y="5796632"/>
            <a:ext cx="4967473" cy="3461668"/>
            <a:chOff x="0" y="0"/>
            <a:chExt cx="769592" cy="5363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592" cy="536303"/>
            </a:xfrm>
            <a:custGeom>
              <a:avLst/>
              <a:gdLst/>
              <a:ahLst/>
              <a:cxnLst/>
              <a:rect r="r" b="b" t="t" l="l"/>
              <a:pathLst>
                <a:path h="536303" w="769592">
                  <a:moveTo>
                    <a:pt x="35846" y="0"/>
                  </a:moveTo>
                  <a:lnTo>
                    <a:pt x="733746" y="0"/>
                  </a:lnTo>
                  <a:cubicBezTo>
                    <a:pt x="753543" y="0"/>
                    <a:pt x="769592" y="16049"/>
                    <a:pt x="769592" y="35846"/>
                  </a:cubicBezTo>
                  <a:lnTo>
                    <a:pt x="769592" y="500457"/>
                  </a:lnTo>
                  <a:cubicBezTo>
                    <a:pt x="769592" y="520254"/>
                    <a:pt x="753543" y="536303"/>
                    <a:pt x="733746" y="536303"/>
                  </a:cubicBezTo>
                  <a:lnTo>
                    <a:pt x="35846" y="536303"/>
                  </a:lnTo>
                  <a:cubicBezTo>
                    <a:pt x="16049" y="536303"/>
                    <a:pt x="0" y="520254"/>
                    <a:pt x="0" y="500457"/>
                  </a:cubicBezTo>
                  <a:lnTo>
                    <a:pt x="0" y="35846"/>
                  </a:lnTo>
                  <a:cubicBezTo>
                    <a:pt x="0" y="16049"/>
                    <a:pt x="16049" y="0"/>
                    <a:pt x="35846" y="0"/>
                  </a:cubicBezTo>
                  <a:close/>
                </a:path>
              </a:pathLst>
            </a:custGeom>
            <a:blipFill>
              <a:blip r:embed="rId3"/>
              <a:stretch>
                <a:fillRect l="-1240" t="0" r="-124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487474" y="5796632"/>
            <a:ext cx="4967473" cy="3461668"/>
            <a:chOff x="0" y="0"/>
            <a:chExt cx="769592" cy="5363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9592" cy="536303"/>
            </a:xfrm>
            <a:custGeom>
              <a:avLst/>
              <a:gdLst/>
              <a:ahLst/>
              <a:cxnLst/>
              <a:rect r="r" b="b" t="t" l="l"/>
              <a:pathLst>
                <a:path h="536303" w="769592">
                  <a:moveTo>
                    <a:pt x="35846" y="0"/>
                  </a:moveTo>
                  <a:lnTo>
                    <a:pt x="733746" y="0"/>
                  </a:lnTo>
                  <a:cubicBezTo>
                    <a:pt x="753543" y="0"/>
                    <a:pt x="769592" y="16049"/>
                    <a:pt x="769592" y="35846"/>
                  </a:cubicBezTo>
                  <a:lnTo>
                    <a:pt x="769592" y="500457"/>
                  </a:lnTo>
                  <a:cubicBezTo>
                    <a:pt x="769592" y="520254"/>
                    <a:pt x="753543" y="536303"/>
                    <a:pt x="733746" y="536303"/>
                  </a:cubicBezTo>
                  <a:lnTo>
                    <a:pt x="35846" y="536303"/>
                  </a:lnTo>
                  <a:cubicBezTo>
                    <a:pt x="16049" y="536303"/>
                    <a:pt x="0" y="520254"/>
                    <a:pt x="0" y="500457"/>
                  </a:cubicBezTo>
                  <a:lnTo>
                    <a:pt x="0" y="35846"/>
                  </a:lnTo>
                  <a:cubicBezTo>
                    <a:pt x="0" y="16049"/>
                    <a:pt x="16049" y="0"/>
                    <a:pt x="35846" y="0"/>
                  </a:cubicBezTo>
                  <a:close/>
                </a:path>
              </a:pathLst>
            </a:custGeom>
            <a:blipFill>
              <a:blip r:embed="rId4"/>
              <a:stretch>
                <a:fillRect l="-11669" t="0" r="-11669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2165497"/>
            <a:ext cx="605414" cy="60541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96703" y="2165497"/>
            <a:ext cx="605414" cy="60541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31877" y="6450242"/>
            <a:ext cx="605414" cy="60541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6F7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3548659"/>
            <a:ext cx="3877899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Casos funcionales aprobados: comprensión, duplicados, prioridad, plan y guardrails.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96703" y="3548659"/>
            <a:ext cx="3877899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Automatizadas aprobadas, 0 fallidas y sin claves versionadas.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31877" y="7833405"/>
            <a:ext cx="6627132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Clasificación aceptada en los cinco reportes sintéticos tras ajustar el prompt (antes, 2 de 5).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970936"/>
            <a:ext cx="3877899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22 de 22 casos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96703" y="2970936"/>
            <a:ext cx="3310487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638 pruebas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1877" y="7255682"/>
            <a:ext cx="5461421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Gemini real: 5 de 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0911" y="2237369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68913" y="2237369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04087" y="6522115"/>
            <a:ext cx="460993" cy="41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  <a:spcBef>
                <a:spcPct val="0"/>
              </a:spcBef>
            </a:pPr>
            <a:r>
              <a:rPr lang="en-US" b="true" sz="2449" spc="1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097256" y="576816"/>
            <a:ext cx="2093488" cy="1151418"/>
          </a:xfrm>
          <a:custGeom>
            <a:avLst/>
            <a:gdLst/>
            <a:ahLst/>
            <a:cxnLst/>
            <a:rect r="r" b="b" t="t" l="l"/>
            <a:pathLst>
              <a:path h="1151418" w="2093488">
                <a:moveTo>
                  <a:pt x="0" y="0"/>
                </a:moveTo>
                <a:lnTo>
                  <a:pt x="2093488" y="0"/>
                </a:lnTo>
                <a:lnTo>
                  <a:pt x="2093488" y="1151418"/>
                </a:lnTo>
                <a:lnTo>
                  <a:pt x="0" y="115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95760" y="1859057"/>
            <a:ext cx="72088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Impacto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5760" y="2773457"/>
            <a:ext cx="733075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 simulación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795760" y="4023360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795760" y="6355080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78640" y="4572000"/>
            <a:ext cx="530352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Spearman de 0,86 frente a 0,31–0,47 de la línea base por quejas.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78640" y="6903720"/>
            <a:ext cx="530352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 9,8 % y 40,8 % menos persona-horas residuales en las seis celdas.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5840" y="3977640"/>
            <a:ext cx="475488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Mejor orden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35840" y="6309360"/>
            <a:ext cx="4754880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Menos horas sin agua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494218" y="318419"/>
            <a:ext cx="2291090" cy="1260099"/>
          </a:xfrm>
          <a:custGeom>
            <a:avLst/>
            <a:gdLst/>
            <a:ahLst/>
            <a:cxnLst/>
            <a:rect r="r" b="b" t="t" l="l"/>
            <a:pathLst>
              <a:path h="1260099" w="2291090">
                <a:moveTo>
                  <a:pt x="0" y="0"/>
                </a:moveTo>
                <a:lnTo>
                  <a:pt x="2291090" y="0"/>
                </a:lnTo>
                <a:lnTo>
                  <a:pt x="2291090" y="1260100"/>
                </a:lnTo>
                <a:lnTo>
                  <a:pt x="0" y="126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9341695"/>
            <a:ext cx="2092478" cy="345259"/>
            <a:chOff x="0" y="0"/>
            <a:chExt cx="2789970" cy="460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pic>
        <p:nvPicPr>
          <p:cNvPr id="900" name="Figura 900" descr="Reducción de persona-horas sin agua frente a la línea base en seis condiciones"/>
          <p:cNvPicPr>
            <a:picLocks noChangeAspect="1"/>
          </p:cNvPicPr>
          <p:nvPr/>
        </p:nvPicPr>
        <p:blipFill>
          <a:blip r:embed="rIdPic900"/>
          <a:stretch>
            <a:fillRect/>
          </a:stretch>
        </p:blipFill>
        <p:spPr>
          <a:xfrm>
            <a:off x="822960" y="2743200"/>
            <a:ext cx="10607040" cy="5193030"/>
          </a:xfrm>
          <a:prstGeom prst="roundRect">
            <a:avLst>
              <a:gd name="adj" fmla="val 3500"/>
            </a:avLst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155791" y="5541115"/>
            <a:ext cx="5064685" cy="3717185"/>
            <a:chOff x="0" y="0"/>
            <a:chExt cx="784652" cy="5758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4652" cy="575889"/>
            </a:xfrm>
            <a:custGeom>
              <a:avLst/>
              <a:gdLst/>
              <a:ahLst/>
              <a:cxnLst/>
              <a:rect r="r" b="b" t="t" l="l"/>
              <a:pathLst>
                <a:path h="57588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0731"/>
                  </a:lnTo>
                  <a:cubicBezTo>
                    <a:pt x="784652" y="560149"/>
                    <a:pt x="768911" y="575889"/>
                    <a:pt x="749494" y="575889"/>
                  </a:cubicBezTo>
                  <a:lnTo>
                    <a:pt x="35158" y="575889"/>
                  </a:lnTo>
                  <a:cubicBezTo>
                    <a:pt x="15741" y="575889"/>
                    <a:pt x="0" y="560149"/>
                    <a:pt x="0" y="54073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2444" r="0" b="-5244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55330" y="5541115"/>
            <a:ext cx="5064685" cy="3717185"/>
            <a:chOff x="0" y="0"/>
            <a:chExt cx="784652" cy="5758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4652" cy="575889"/>
            </a:xfrm>
            <a:custGeom>
              <a:avLst/>
              <a:gdLst/>
              <a:ahLst/>
              <a:cxnLst/>
              <a:rect r="r" b="b" t="t" l="l"/>
              <a:pathLst>
                <a:path h="575889" w="784652">
                  <a:moveTo>
                    <a:pt x="35158" y="0"/>
                  </a:moveTo>
                  <a:lnTo>
                    <a:pt x="749494" y="0"/>
                  </a:lnTo>
                  <a:cubicBezTo>
                    <a:pt x="768911" y="0"/>
                    <a:pt x="784652" y="15741"/>
                    <a:pt x="784652" y="35158"/>
                  </a:cubicBezTo>
                  <a:lnTo>
                    <a:pt x="784652" y="540731"/>
                  </a:lnTo>
                  <a:cubicBezTo>
                    <a:pt x="784652" y="560149"/>
                    <a:pt x="768911" y="575889"/>
                    <a:pt x="749494" y="575889"/>
                  </a:cubicBezTo>
                  <a:lnTo>
                    <a:pt x="35158" y="575889"/>
                  </a:lnTo>
                  <a:cubicBezTo>
                    <a:pt x="15741" y="575889"/>
                    <a:pt x="0" y="560149"/>
                    <a:pt x="0" y="540731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blipFill>
              <a:blip r:embed="rId4"/>
              <a:stretch>
                <a:fillRect l="-3572" t="0" r="-3572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96953" y="2663934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2" y="0"/>
                </a:lnTo>
                <a:lnTo>
                  <a:pt x="325252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68151" y="5868822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2"/>
                </a:lnTo>
                <a:lnTo>
                  <a:pt x="0" y="325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166822" y="9085671"/>
            <a:ext cx="2092478" cy="345259"/>
            <a:chOff x="0" y="0"/>
            <a:chExt cx="2789970" cy="4603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5357334" y="369320"/>
            <a:ext cx="2138564" cy="1176210"/>
          </a:xfrm>
          <a:custGeom>
            <a:avLst/>
            <a:gdLst/>
            <a:ahLst/>
            <a:cxnLst/>
            <a:rect r="r" b="b" t="t" l="l"/>
            <a:pathLst>
              <a:path h="1176210" w="2138564">
                <a:moveTo>
                  <a:pt x="0" y="0"/>
                </a:moveTo>
                <a:lnTo>
                  <a:pt x="2138563" y="0"/>
                </a:lnTo>
                <a:lnTo>
                  <a:pt x="2138563" y="1176210"/>
                </a:lnTo>
                <a:lnTo>
                  <a:pt x="0" y="11762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Límites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1854" y="1431230"/>
            <a:ext cx="605137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Limitaciones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81854" y="2345630"/>
            <a:ext cx="798370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declaradas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81854" y="3555031"/>
            <a:ext cx="7673013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resultados describen el comportamiento de los algoritmos bajo supuestos declarados; no son evidencia de impacto real.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9579" y="3212131"/>
            <a:ext cx="5299992" cy="172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verdad de terreno y la propensión a reportar son supuestos del equipo.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0777" y="6417019"/>
            <a:ext cx="6202758" cy="13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Firmware, Raspberry Pi, Supabase y Vercel sin probar; faltan TLS y MFA.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7289" y="2623424"/>
            <a:ext cx="4429327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Datos sintéticos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68487" y="5828311"/>
            <a:ext cx="5383175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Sin pruebas reales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Cierre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8171" y="1825906"/>
            <a:ext cx="586836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14515C"/>
                </a:solidFill>
                <a:latin typeface="Garet"/>
                <a:ea typeface="Garet"/>
                <a:cs typeface="Garet"/>
                <a:sym typeface="Garet"/>
              </a:rPr>
              <a:t>Conclusiones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171" y="2740306"/>
            <a:ext cx="659901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s-ES" sz="6000" spc="-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 futuro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8171" y="4605628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8171" y="6795198"/>
            <a:ext cx="325253" cy="325253"/>
          </a:xfrm>
          <a:custGeom>
            <a:avLst/>
            <a:gdLst/>
            <a:ahLst/>
            <a:cxnLst/>
            <a:rect r="r" b="b" t="t" l="l"/>
            <a:pathLst>
              <a:path h="325253" w="325253">
                <a:moveTo>
                  <a:pt x="0" y="0"/>
                </a:moveTo>
                <a:lnTo>
                  <a:pt x="325253" y="0"/>
                </a:lnTo>
                <a:lnTo>
                  <a:pt x="325253" y="325253"/>
                </a:lnTo>
                <a:lnTo>
                  <a:pt x="0" y="325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20798" y="5153825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IA interpreta, el código valida y calcula, y la persona aprueba.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0798" y="7343396"/>
            <a:ext cx="5536600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Mejor orden y menos persona-horas sin agua, en simulación.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8508" y="4565118"/>
            <a:ext cx="5700036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 logrado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8508" y="6754688"/>
            <a:ext cx="4070404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Mejor atención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25382" y="1455690"/>
            <a:ext cx="4317986" cy="7802610"/>
            <a:chOff x="0" y="0"/>
            <a:chExt cx="668969" cy="12088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8969" cy="1208828"/>
            </a:xfrm>
            <a:custGeom>
              <a:avLst/>
              <a:gdLst/>
              <a:ahLst/>
              <a:cxnLst/>
              <a:rect r="r" b="b" t="t" l="l"/>
              <a:pathLst>
                <a:path h="1208828" w="668969">
                  <a:moveTo>
                    <a:pt x="41238" y="0"/>
                  </a:moveTo>
                  <a:lnTo>
                    <a:pt x="627731" y="0"/>
                  </a:lnTo>
                  <a:cubicBezTo>
                    <a:pt x="638668" y="0"/>
                    <a:pt x="649157" y="4345"/>
                    <a:pt x="656891" y="12078"/>
                  </a:cubicBezTo>
                  <a:cubicBezTo>
                    <a:pt x="664624" y="19812"/>
                    <a:pt x="668969" y="30301"/>
                    <a:pt x="668969" y="41238"/>
                  </a:cubicBezTo>
                  <a:lnTo>
                    <a:pt x="668969" y="1167591"/>
                  </a:lnTo>
                  <a:cubicBezTo>
                    <a:pt x="668969" y="1190366"/>
                    <a:pt x="650506" y="1208828"/>
                    <a:pt x="627731" y="1208828"/>
                  </a:cubicBezTo>
                  <a:lnTo>
                    <a:pt x="41238" y="1208828"/>
                  </a:lnTo>
                  <a:cubicBezTo>
                    <a:pt x="18463" y="1208828"/>
                    <a:pt x="0" y="1190366"/>
                    <a:pt x="0" y="1167591"/>
                  </a:cubicBezTo>
                  <a:lnTo>
                    <a:pt x="0" y="41238"/>
                  </a:lnTo>
                  <a:cubicBezTo>
                    <a:pt x="0" y="18463"/>
                    <a:pt x="18463" y="0"/>
                    <a:pt x="41238" y="0"/>
                  </a:cubicBezTo>
                  <a:close/>
                </a:path>
              </a:pathLst>
            </a:custGeom>
            <a:blipFill>
              <a:blip r:embed="rId5"/>
              <a:stretch>
                <a:fillRect l="-85864" t="0" r="-8586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60226" y="1940206"/>
            <a:ext cx="5580673" cy="2236545"/>
            <a:chOff x="0" y="0"/>
            <a:chExt cx="1469807" cy="5890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9807" cy="589049"/>
            </a:xfrm>
            <a:custGeom>
              <a:avLst/>
              <a:gdLst/>
              <a:ahLst/>
              <a:cxnLst/>
              <a:rect r="r" b="b" t="t" l="l"/>
              <a:pathLst>
                <a:path h="589049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547431"/>
                  </a:lnTo>
                  <a:cubicBezTo>
                    <a:pt x="1469807" y="558469"/>
                    <a:pt x="1465422" y="569054"/>
                    <a:pt x="1457617" y="576859"/>
                  </a:cubicBezTo>
                  <a:cubicBezTo>
                    <a:pt x="1449812" y="584664"/>
                    <a:pt x="1439226" y="589049"/>
                    <a:pt x="1428189" y="589049"/>
                  </a:cubicBezTo>
                  <a:lnTo>
                    <a:pt x="41618" y="589049"/>
                  </a:lnTo>
                  <a:cubicBezTo>
                    <a:pt x="30580" y="589049"/>
                    <a:pt x="19995" y="584664"/>
                    <a:pt x="12190" y="576859"/>
                  </a:cubicBezTo>
                  <a:cubicBezTo>
                    <a:pt x="4385" y="569054"/>
                    <a:pt x="0" y="558469"/>
                    <a:pt x="0" y="547431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69807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60226" y="4605628"/>
            <a:ext cx="5580673" cy="2236545"/>
            <a:chOff x="0" y="0"/>
            <a:chExt cx="1469807" cy="589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9807" cy="589049"/>
            </a:xfrm>
            <a:custGeom>
              <a:avLst/>
              <a:gdLst/>
              <a:ahLst/>
              <a:cxnLst/>
              <a:rect r="r" b="b" t="t" l="l"/>
              <a:pathLst>
                <a:path h="589049" w="1469807">
                  <a:moveTo>
                    <a:pt x="41618" y="0"/>
                  </a:moveTo>
                  <a:lnTo>
                    <a:pt x="1428189" y="0"/>
                  </a:lnTo>
                  <a:cubicBezTo>
                    <a:pt x="1451174" y="0"/>
                    <a:pt x="1469807" y="18633"/>
                    <a:pt x="1469807" y="41618"/>
                  </a:cubicBezTo>
                  <a:lnTo>
                    <a:pt x="1469807" y="547431"/>
                  </a:lnTo>
                  <a:cubicBezTo>
                    <a:pt x="1469807" y="558469"/>
                    <a:pt x="1465422" y="569054"/>
                    <a:pt x="1457617" y="576859"/>
                  </a:cubicBezTo>
                  <a:cubicBezTo>
                    <a:pt x="1449812" y="584664"/>
                    <a:pt x="1439226" y="589049"/>
                    <a:pt x="1428189" y="589049"/>
                  </a:cubicBezTo>
                  <a:lnTo>
                    <a:pt x="41618" y="589049"/>
                  </a:lnTo>
                  <a:cubicBezTo>
                    <a:pt x="30580" y="589049"/>
                    <a:pt x="19995" y="584664"/>
                    <a:pt x="12190" y="576859"/>
                  </a:cubicBezTo>
                  <a:cubicBezTo>
                    <a:pt x="4385" y="569054"/>
                    <a:pt x="0" y="558469"/>
                    <a:pt x="0" y="547431"/>
                  </a:cubicBezTo>
                  <a:lnTo>
                    <a:pt x="0" y="41618"/>
                  </a:lnTo>
                  <a:cubicBezTo>
                    <a:pt x="0" y="30580"/>
                    <a:pt x="4385" y="19995"/>
                    <a:pt x="12190" y="12190"/>
                  </a:cubicBezTo>
                  <a:cubicBezTo>
                    <a:pt x="19995" y="4385"/>
                    <a:pt x="30580" y="0"/>
                    <a:pt x="416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9807" cy="627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541276" y="2773053"/>
            <a:ext cx="5025838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Firmware en la placa y despliegue en Vercel y Supabase.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41276" y="5438475"/>
            <a:ext cx="5025838" cy="103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7"/>
              </a:lnSpc>
            </a:pPr>
            <a:r>
              <a:rPr lang="es-ES" sz="2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Gemini con reportes etiquetados y los casos oficiales del reto.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41276" y="2193348"/>
            <a:ext cx="4951994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Probar en real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41276" y="4858771"/>
            <a:ext cx="4921713" cy="3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6"/>
              </a:lnSpc>
              <a:spcBef>
                <a:spcPct val="0"/>
              </a:spcBef>
            </a:pPr>
            <a:r>
              <a:rPr lang="es-ES" b="true" sz="2600" spc="-52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Evaluar mejor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610994" y="8118524"/>
            <a:ext cx="2845084" cy="1564796"/>
          </a:xfrm>
          <a:custGeom>
            <a:avLst/>
            <a:gdLst/>
            <a:ahLst/>
            <a:cxnLst/>
            <a:rect r="r" b="b" t="t" l="l"/>
            <a:pathLst>
              <a:path h="1564796" w="2845084">
                <a:moveTo>
                  <a:pt x="0" y="0"/>
                </a:moveTo>
                <a:lnTo>
                  <a:pt x="2845083" y="0"/>
                </a:lnTo>
                <a:lnTo>
                  <a:pt x="2845083" y="1564796"/>
                </a:lnTo>
                <a:lnTo>
                  <a:pt x="0" y="1564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5736086" y="856071"/>
            <a:ext cx="2092478" cy="345259"/>
            <a:chOff x="0" y="0"/>
            <a:chExt cx="2789970" cy="460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444" r="0" b="-10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6000" y="1828800"/>
            <a:ext cx="13716000" cy="515239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0000"/>
              </a:lnSpc>
              <a:spcBef>
                <a:spcPct val="0"/>
              </a:spcBef>
            </a:pPr>
            <a:r>
              <a:rPr lang="es-ES" sz="21500">
                <a:solidFill>
                  <a:srgbClr val="14515C"/>
                </a:solidFill>
                <a:latin typeface="Anton"/>
                <a:ea typeface="Anton"/>
                <a:cs typeface="Anton"/>
                <a:sym typeface="Anton"/>
              </a:rPr>
              <a:t>GRACIAS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20663" y="6053447"/>
            <a:ext cx="9446674" cy="227757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8725"/>
              </a:lnSpc>
              <a:spcBef>
                <a:spcPct val="0"/>
              </a:spcBef>
            </a:pPr>
            <a:r>
              <a:rPr lang="es-ES" sz="13375">
                <a:solidFill>
                  <a:srgbClr val="14515C"/>
                </a:solidFill>
                <a:latin typeface="Anton"/>
                <a:ea typeface="Anton"/>
                <a:cs typeface="Anton"/>
                <a:sym typeface="Anton"/>
              </a:rPr>
              <a:t>TEAM VIFY AI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21620" y="8151957"/>
            <a:ext cx="19692566" cy="8522914"/>
          </a:xfrm>
          <a:custGeom>
            <a:avLst/>
            <a:gdLst/>
            <a:ahLst/>
            <a:cxnLst/>
            <a:rect r="r" b="b" t="t" l="l"/>
            <a:pathLst>
              <a:path h="8522914" w="19692566">
                <a:moveTo>
                  <a:pt x="0" y="0"/>
                </a:moveTo>
                <a:lnTo>
                  <a:pt x="19692566" y="0"/>
                </a:lnTo>
                <a:lnTo>
                  <a:pt x="19692566" y="8522914"/>
                </a:lnTo>
                <a:lnTo>
                  <a:pt x="0" y="8522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651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6000" y="1608439"/>
            <a:ext cx="13716000" cy="5429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s-ES" sz="3000" spc="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IA PROPONE · LA PERSONA DECIDE</a:t>
            </a:r>
          </a:p>
        </p:txBody>
      </p:sp>
      <p:sp>
        <p:nvSpPr>
          <p:cNvPr name="AutoShape 7" id="7"/>
          <p:cNvSpPr/>
          <p:nvPr/>
        </p:nvSpPr>
        <p:spPr>
          <a:xfrm>
            <a:off x="16840899" y="905583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6959009" y="1028700"/>
            <a:ext cx="30029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6840899" y="1152525"/>
            <a:ext cx="418401" cy="0"/>
          </a:xfrm>
          <a:prstGeom prst="line">
            <a:avLst/>
          </a:prstGeom>
          <a:ln cap="rnd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350240" y="733425"/>
            <a:ext cx="32918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Cierre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3425"/>
            <a:ext cx="294540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HIDRO360</a:t>
            </a:r>
            <a:b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</a:br>
            <a:r>
              <a:rPr lang="es-ES" sz="3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VIFY AI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97761" y="856071"/>
            <a:ext cx="2092478" cy="345259"/>
            <a:chOff x="0" y="0"/>
            <a:chExt cx="2789970" cy="4603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89970" cy="460345"/>
            </a:xfrm>
            <a:custGeom>
              <a:avLst/>
              <a:gdLst/>
              <a:ahLst/>
              <a:cxnLst/>
              <a:rect r="r" b="b" t="t" l="l"/>
              <a:pathLst>
                <a:path h="460345" w="2789970">
                  <a:moveTo>
                    <a:pt x="0" y="0"/>
                  </a:moveTo>
                  <a:lnTo>
                    <a:pt x="2789970" y="0"/>
                  </a:lnTo>
                  <a:lnTo>
                    <a:pt x="2789970" y="460345"/>
                  </a:lnTo>
                  <a:lnTo>
                    <a:pt x="0" y="460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804617" y="20660"/>
              <a:ext cx="419026" cy="4190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515C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-1060013" y="6273682"/>
            <a:ext cx="3790461" cy="2084753"/>
          </a:xfrm>
          <a:custGeom>
            <a:avLst/>
            <a:gdLst/>
            <a:ahLst/>
            <a:cxnLst/>
            <a:rect r="r" b="b" t="t" l="l"/>
            <a:pathLst>
              <a:path h="2084753" w="3790461">
                <a:moveTo>
                  <a:pt x="0" y="0"/>
                </a:moveTo>
                <a:lnTo>
                  <a:pt x="3790460" y="0"/>
                </a:lnTo>
                <a:lnTo>
                  <a:pt x="3790460" y="2084753"/>
                </a:lnTo>
                <a:lnTo>
                  <a:pt x="0" y="2084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46667" y="1922764"/>
            <a:ext cx="3790461" cy="2084753"/>
          </a:xfrm>
          <a:custGeom>
            <a:avLst/>
            <a:gdLst/>
            <a:ahLst/>
            <a:cxnLst/>
            <a:rect r="r" b="b" t="t" l="l"/>
            <a:pathLst>
              <a:path h="2084753" w="3790461">
                <a:moveTo>
                  <a:pt x="0" y="0"/>
                </a:moveTo>
                <a:lnTo>
                  <a:pt x="3790460" y="0"/>
                </a:lnTo>
                <a:lnTo>
                  <a:pt x="3790460" y="2084753"/>
                </a:lnTo>
                <a:lnTo>
                  <a:pt x="0" y="20847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DAHYR2dQnWw</dc:identifier>
  <dcterms:modified xsi:type="dcterms:W3CDTF">2011-08-01T06:04:30Z</dcterms:modified>
  <cp:revision>1</cp:revision>
  <dc:title>Teal White and Sky Blue Modern Bold Water Conservation Presentation</dc:title>
</cp:coreProperties>
</file>